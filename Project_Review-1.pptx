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August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24684"/>
              </p:ext>
            </p:extLst>
          </p:nvPr>
        </p:nvGraphicFramePr>
        <p:xfrm>
          <a:off x="8193271" y="4898509"/>
          <a:ext cx="370205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K.Bhavya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- 2420030394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S.Saswitha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- 2420090067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M.Pranavi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- 2420090110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Dr.XXXXXX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XXXXXX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Find Ease – Intelligent Lost And Found Portal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A3CA0E-23D3-4FD1-BBEC-4C0CBE3D116E}"/>
              </a:ext>
            </a:extLst>
          </p:cNvPr>
          <p:cNvSpPr/>
          <p:nvPr/>
        </p:nvSpPr>
        <p:spPr>
          <a:xfrm>
            <a:off x="604886" y="1297455"/>
            <a:ext cx="1098222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Traditional lost-and-found portals have several problems: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Searching:</a:t>
            </a:r>
            <a:r>
              <a:rPr lang="en-US" dirty="0"/>
              <a:t> Owners have to search through many lost-and-found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Consuming:</a:t>
            </a:r>
            <a:r>
              <a:rPr lang="en-US" dirty="0"/>
              <a:t> Users must continuously scroll through static listings.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Fraudulent Claims:</a:t>
            </a:r>
            <a:r>
              <a:rPr lang="en-US" dirty="0"/>
              <a:t> Public photos can allow unauthorized users to claim items.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Matching:</a:t>
            </a:r>
            <a:r>
              <a:rPr lang="en-US" dirty="0"/>
              <a:t> Users have to find possible matching items by themselves.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Private Verification:</a:t>
            </a:r>
            <a:r>
              <a:rPr lang="en-US" dirty="0"/>
              <a:t> Important hidden details of the item are not used to verify the real owner.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Automatic Alerts:</a:t>
            </a:r>
            <a:r>
              <a:rPr lang="en-US" dirty="0"/>
              <a:t> Owners do not automatically get a notification when a possible match is found.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 for Secure Recovery:</a:t>
            </a:r>
            <a:r>
              <a:rPr lang="en-US" dirty="0"/>
              <a:t> A proper verification process is needed before the item is handed over. </a:t>
            </a:r>
          </a:p>
          <a:p>
            <a:endParaRPr lang="en-US" dirty="0"/>
          </a:p>
          <a:p>
            <a:r>
              <a:rPr lang="en-US" b="1" dirty="0" err="1"/>
              <a:t>FindEase</a:t>
            </a:r>
            <a:r>
              <a:rPr lang="en-US" b="1" dirty="0"/>
              <a:t>-SOA aims to solve these problems using AI-based matching, zero-knowledge verification and automatic notifications.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A24B205-F98C-474E-A5B0-B911181E9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948" y="1069331"/>
            <a:ext cx="1164210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develop</a:t>
            </a:r>
            <a:r>
              <a:rPr lang="en-IN" dirty="0"/>
              <a:t> a full-stack Spring Boot web application that allows users to quickly report, track, and recover lost and found belongings anywhere.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To integrate</a:t>
            </a:r>
            <a:r>
              <a:rPr lang="en-IN" dirty="0"/>
              <a:t> an intelligent matching system that automatically pairs lost and found entries based on selected item categories, text details, and location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create</a:t>
            </a:r>
            <a:r>
              <a:rPr lang="en-IN" dirty="0"/>
              <a:t> an automated blind verification workflow where AI generates targeted questions based on hidden traits to test whether the claimant is genuine.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To notify</a:t>
            </a:r>
            <a:r>
              <a:rPr lang="en-IN" dirty="0"/>
              <a:t> owners instantly on their personal dashboard with candidate match badges whenever a matching category and description are identified.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b="1" dirty="0"/>
              <a:t> To provide</a:t>
            </a:r>
            <a:r>
              <a:rPr lang="en-IN" dirty="0"/>
              <a:t> a secure verification portal for authorities to authorize physical handovers, drastically cutting down     manual search effort and preventing fraudulent claims.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057660"/>
              </p:ext>
            </p:extLst>
          </p:nvPr>
        </p:nvGraphicFramePr>
        <p:xfrm>
          <a:off x="274646" y="689466"/>
          <a:ext cx="11642705" cy="4656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a-DK" sz="1600" b="1" dirty="0"/>
                        <a:t>Zhou et al. [1] (2024)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LostNet</a:t>
                      </a:r>
                      <a:r>
                        <a:rPr lang="en-US" sz="1800" b="1" dirty="0"/>
                        <a:t>: A Smart Way for Lost and Find</a:t>
                      </a:r>
                      <a:endParaRPr lang="en-IN" sz="18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MobileNetV2 and CBAM for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Perceptual Hashing.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Spring Boot for the online system.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Images of lost and found items can be matched automatically.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Helps reduce manual searching.</a:t>
                      </a:r>
                      <a:endParaRPr lang="en-US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provide your zero-knowledge verification, AI agents, text matching and event-based notification.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/>
                        <a:t>Jitesh T. et al. [2]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SmartFind</a:t>
                      </a:r>
                      <a:r>
                        <a:rPr lang="en-US" sz="1400" b="1" dirty="0"/>
                        <a:t>: AI Based Lost Item Finder in College/Office Campuses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image-based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text-based similarity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Designed for college and office campuses.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Image and text together can help find lost items.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AI can reduce manual searching.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Mainly focuses on image and text matching.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Does not include your blind challenge-response verification and multi-agent workflow.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b="1" dirty="0" err="1"/>
                        <a:t>Chinchmalatpure</a:t>
                      </a:r>
                      <a:r>
                        <a:rPr lang="en-US" sz="1400" b="1" dirty="0"/>
                        <a:t> et al. [3]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Automated Lost &amp; Found Retrieval System Using Deep Learning and Geospatial Analysis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Uses CLIP embeddings for image similarity.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location search.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Uses image hashing for similarity search.</a:t>
                      </a:r>
                      <a:endParaRPr lang="en-US" sz="1400" b="1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AI image matching and location information can improve lost-item retrieval. </a:t>
                      </a:r>
                      <a:br>
                        <a:rPr lang="en-US" sz="1400" b="1" dirty="0"/>
                      </a:br>
                      <a:r>
                        <a:rPr lang="en-US" sz="1400" b="1" dirty="0"/>
                        <a:t>• Similar ideas are useful for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400" b="1" dirty="0"/>
                        <a:t>• Does not provide the complete zero-knowledge verification and event-driven recovery workflow proposed in </a:t>
                      </a:r>
                      <a:r>
                        <a:rPr lang="en-US" sz="1400" b="1" dirty="0" err="1"/>
                        <a:t>FindEase</a:t>
                      </a:r>
                      <a:r>
                        <a:rPr lang="en-US" sz="1400" b="1" dirty="0"/>
                        <a:t>-SOA.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3494690-35E2-4266-AE50-DA0864543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57" y="1336859"/>
            <a:ext cx="116515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b="1" dirty="0"/>
              <a:t>Manual Search and Inefficiency:</a:t>
            </a:r>
            <a:r>
              <a:rPr lang="en-IN" dirty="0"/>
              <a:t> Traditional lost and found systems rely heavily on manual </a:t>
            </a:r>
            <a:r>
              <a:rPr lang="en-IN" dirty="0" err="1"/>
              <a:t>cataloging</a:t>
            </a:r>
            <a:r>
              <a:rPr lang="en-IN" dirty="0"/>
              <a:t>, physical notice boards, or scrolling through unfiltered lists, which is time-consuming and leads to low recovery rates.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Smart Categorization Matching:</a:t>
            </a:r>
            <a:r>
              <a:rPr lang="en-IN" dirty="0"/>
              <a:t> Most standard portals require exact keyword matches, failing to connect items when users describe the same object with slightly different wording or broad categories.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Public Exposure of Item Details:</a:t>
            </a:r>
            <a:r>
              <a:rPr lang="en-IN" dirty="0"/>
              <a:t> Existing platforms display all submitted item details publicly, making it easy for dishonest individuals to view identifying features and submit fraudulent ownership claims.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Absence of Blind Ownership Verification:</a:t>
            </a:r>
            <a:r>
              <a:rPr lang="en-IN" dirty="0"/>
              <a:t> Current systems lack an automated mechanism to verify ownership before physical contact, forcing administrators to manually interrogate claimants without standardized proof.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Lack of Real-Time Workflow Automation:</a:t>
            </a:r>
            <a:r>
              <a:rPr lang="en-IN" dirty="0"/>
              <a:t> Most existing solutions do not provide automated lifecycle tracking or instant dashboard alerts, leaving users unaware when a candidate match is reported.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Administrative Burden on Handover Authorities:</a:t>
            </a:r>
            <a:r>
              <a:rPr lang="en-IN" dirty="0"/>
              <a:t> Custodians and authorities face significant overhead and fraud risk when physically validating and handing over items without a pre-verified audit trail.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43501" y="622550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AE00949-ECD7-46B1-BE26-19F0D88F0722}"/>
              </a:ext>
            </a:extLst>
          </p:cNvPr>
          <p:cNvSpPr/>
          <p:nvPr/>
        </p:nvSpPr>
        <p:spPr>
          <a:xfrm>
            <a:off x="1820158" y="1469220"/>
            <a:ext cx="85516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Novelty (Blind Verification):</a:t>
            </a:r>
            <a:r>
              <a:rPr lang="en-IN" dirty="0"/>
              <a:t> Keeps unique item traits hidden from the public to prevent fake claims, using them only as secret ground truth for verification.</a:t>
            </a:r>
          </a:p>
          <a:p>
            <a:pPr lvl="0"/>
            <a:r>
              <a:rPr lang="en-IN" b="1" dirty="0"/>
              <a:t>Innovation (AI Agent Verification):</a:t>
            </a:r>
            <a:r>
              <a:rPr lang="en-IN" dirty="0"/>
              <a:t> Uses AI to automatically generate challenge questions and evaluate claimant answers, eliminating manual admin questioning.</a:t>
            </a:r>
          </a:p>
          <a:p>
            <a:pPr lvl="0"/>
            <a:r>
              <a:rPr lang="en-IN" b="1" dirty="0"/>
              <a:t>Creativity (Smart Categorical Matching):</a:t>
            </a:r>
            <a:r>
              <a:rPr lang="en-IN" dirty="0"/>
              <a:t> Matches items instantly using structured categories, descriptions, and location data without exposing sensitive item photos.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2ADD71-402A-D74D-4947-98DC5F6BA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287" y="3297816"/>
            <a:ext cx="5992305" cy="293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/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b="1" dirty="0"/>
                  <a:t>Project Plan:</a:t>
                </a:r>
                <a:endParaRPr lang="en-IN" dirty="0"/>
              </a:p>
              <a:p>
                <a:pPr lvl="0"/>
                <a:r>
                  <a:rPr lang="en-IN" b="1" dirty="0"/>
                  <a:t>Phase 1 (Setup):</a:t>
                </a:r>
                <a:r>
                  <a:rPr lang="en-IN" dirty="0"/>
                  <a:t> Design MySQL database schema separating public and hidden item traits.</a:t>
                </a:r>
              </a:p>
              <a:p>
                <a:pPr lvl="0"/>
                <a:r>
                  <a:rPr lang="en-IN" b="1" dirty="0"/>
                  <a:t>Phase 2 (AI Pipeline):</a:t>
                </a:r>
                <a:r>
                  <a:rPr lang="en-IN" dirty="0"/>
                  <a:t> Implement CLIP, BERT, and FAISS vector matching with geofencing.</a:t>
                </a:r>
              </a:p>
              <a:p>
                <a:pPr lvl="0"/>
                <a:r>
                  <a:rPr lang="en-IN" b="1" dirty="0"/>
                  <a:t>Phase 3 (Backend):</a:t>
                </a:r>
                <a:r>
                  <a:rPr lang="en-IN" dirty="0"/>
                  <a:t> Build Spring Boot event listeners to automate state transitions (MATCH_PENDING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MATCH_VERIFIED).</a:t>
                </a:r>
              </a:p>
              <a:p>
                <a:pPr lvl="0"/>
                <a:r>
                  <a:rPr lang="en-IN" b="1" dirty="0"/>
                  <a:t>Phase 4 (Verification):</a:t>
                </a:r>
                <a:r>
                  <a:rPr lang="en-IN" dirty="0"/>
                  <a:t> Integrate AI challenge generation and fraud response scoring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≥85%</m:t>
                    </m:r>
                  </m:oMath>
                </a14:m>
                <a:r>
                  <a:rPr lang="en-IN" dirty="0"/>
                  <a:t>).</a:t>
                </a:r>
              </a:p>
              <a:p>
                <a:pPr lvl="0"/>
                <a:r>
                  <a:rPr lang="en-IN" b="1" dirty="0"/>
                  <a:t>Phase 5 (Frontend):</a:t>
                </a:r>
                <a:r>
                  <a:rPr lang="en-IN" dirty="0"/>
                  <a:t> Build user notification alerts and the Warden handover portal in React.</a:t>
                </a:r>
              </a:p>
              <a:p>
                <a:pPr lvl="0"/>
                <a:r>
                  <a:rPr lang="en-IN" b="1" dirty="0"/>
                  <a:t>Phase 6 (Testing):</a:t>
                </a:r>
                <a:r>
                  <a:rPr lang="en-IN" dirty="0"/>
                  <a:t> Perform integration testing, vector benchmarking, and deployment.</a:t>
                </a:r>
              </a:p>
              <a:p>
                <a:pPr lvl="0"/>
                <a:endParaRPr lang="en-IN" dirty="0"/>
              </a:p>
              <a:p>
                <a:r>
                  <a:rPr lang="en-IN" b="1" dirty="0"/>
                  <a:t>Feasibility :</a:t>
                </a:r>
                <a:endParaRPr lang="en-IN" dirty="0"/>
              </a:p>
              <a:p>
                <a:pPr lvl="0"/>
                <a:r>
                  <a:rPr lang="en-IN" b="1" dirty="0"/>
                  <a:t>Technical :</a:t>
                </a:r>
                <a:r>
                  <a:rPr lang="en-IN" dirty="0"/>
                  <a:t> Uses standard, proven technologies (Spring Boot, MySQL, FAISS, CLIP/BERT) with sub-second vector search.</a:t>
                </a:r>
              </a:p>
              <a:p>
                <a:pPr lvl="0"/>
                <a:r>
                  <a:rPr lang="en-IN" b="1" dirty="0"/>
                  <a:t>Operational :</a:t>
                </a:r>
                <a:r>
                  <a:rPr lang="en-IN" dirty="0"/>
                  <a:t> Eliminates manual screening by verifying claims automatically before warden handovers.</a:t>
                </a:r>
              </a:p>
              <a:p>
                <a:pPr lvl="0"/>
                <a:r>
                  <a:rPr lang="en-IN" b="1" dirty="0"/>
                  <a:t>Security :</a:t>
                </a:r>
                <a:r>
                  <a:rPr lang="en-IN" dirty="0"/>
                  <a:t> Keeps identifying traits completely private, preventing fraudulent claims.</a:t>
                </a:r>
              </a:p>
              <a:p>
                <a:pPr lvl="0"/>
                <a:r>
                  <a:rPr lang="en-IN" b="1" dirty="0"/>
                  <a:t>Resource :</a:t>
                </a:r>
                <a:r>
                  <a:rPr lang="en-IN" dirty="0"/>
                  <a:t> Modular architecture allows quick, parallel development across frontend, backend, and AI modules.</a:t>
                </a: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DC4DC9-AC6C-4590-BE5A-BA8363E2EE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08" y="1489436"/>
                <a:ext cx="11470852" cy="5909310"/>
              </a:xfrm>
              <a:prstGeom prst="rect">
                <a:avLst/>
              </a:prstGeom>
              <a:blipFill>
                <a:blip r:embed="rId3"/>
                <a:stretch>
                  <a:fillRect l="-478" t="-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1057</Words>
  <Application>Microsoft Office PowerPoint</Application>
  <PresentationFormat>Widescreen</PresentationFormat>
  <Paragraphs>131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 Math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saswithasheri@gmail.com</cp:lastModifiedBy>
  <cp:revision>38</cp:revision>
  <dcterms:created xsi:type="dcterms:W3CDTF">2026-08-08T06:33:56Z</dcterms:created>
  <dcterms:modified xsi:type="dcterms:W3CDTF">2026-09-29T09:23:24Z</dcterms:modified>
</cp:coreProperties>
</file>