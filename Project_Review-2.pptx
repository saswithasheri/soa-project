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9" r:id="rId11"/>
    <p:sldId id="910" r:id="rId12"/>
    <p:sldId id="908" r:id="rId13"/>
    <p:sldId id="904" r:id="rId14"/>
    <p:sldId id="906" r:id="rId15"/>
    <p:sldId id="90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09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August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324684"/>
              </p:ext>
            </p:extLst>
          </p:nvPr>
        </p:nvGraphicFramePr>
        <p:xfrm>
          <a:off x="8193271" y="4898509"/>
          <a:ext cx="370205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K.Bhavya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- 2420030394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S.Saswitha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- 2420090067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M.Pranavi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- 2420090110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Dr.XXXXXX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XXXXXX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A3CA0E-23D3-4FD1-BBEC-4C0CBE3D116E}"/>
              </a:ext>
            </a:extLst>
          </p:cNvPr>
          <p:cNvSpPr/>
          <p:nvPr/>
        </p:nvSpPr>
        <p:spPr>
          <a:xfrm>
            <a:off x="604886" y="1297455"/>
            <a:ext cx="1098222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Traditional lost-and-found portals have several problems: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Manual Searching:</a:t>
            </a:r>
            <a:r>
              <a:rPr lang="en-US" dirty="0"/>
              <a:t> Owners have to search through many lost-and-found items.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 Consuming:</a:t>
            </a:r>
            <a:r>
              <a:rPr lang="en-US" dirty="0"/>
              <a:t> Users must continuously scroll through static listings.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Fraudulent Claims:</a:t>
            </a:r>
            <a:r>
              <a:rPr lang="en-US" dirty="0"/>
              <a:t> Public photos can allow unauthorized users to claim items.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Automatic Matching:</a:t>
            </a:r>
            <a:r>
              <a:rPr lang="en-US" dirty="0"/>
              <a:t> Users have to find possible matching items by themselves.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Private Verification:</a:t>
            </a:r>
            <a:r>
              <a:rPr lang="en-US" dirty="0"/>
              <a:t> Important hidden details of the item are not used to verify the real owner.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Automatic Alerts:</a:t>
            </a:r>
            <a:r>
              <a:rPr lang="en-US" dirty="0"/>
              <a:t> Owners do not automatically get a notification when a possible match is found.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Need for Secure Recovery:</a:t>
            </a:r>
            <a:r>
              <a:rPr lang="en-US" dirty="0"/>
              <a:t> A proper verification process is needed before the item is handed over. </a:t>
            </a:r>
          </a:p>
          <a:p>
            <a:endParaRPr lang="en-US" dirty="0"/>
          </a:p>
          <a:p>
            <a:r>
              <a:rPr lang="en-US" b="1" dirty="0" err="1"/>
              <a:t>FindEase</a:t>
            </a:r>
            <a:r>
              <a:rPr lang="en-US" b="1" dirty="0"/>
              <a:t>-SOA aims to solve these problems using AI-based matching, zero-knowledge verification and automatic notifications.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A24B205-F98C-474E-A5B0-B911181E9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48" y="1069331"/>
            <a:ext cx="1164210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To develop</a:t>
            </a:r>
            <a:r>
              <a:rPr lang="en-IN" dirty="0"/>
              <a:t> a full-stack Spring Boot web application that allows users to quickly report, track, and recover lost and found belongings anywhere.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To integrate</a:t>
            </a:r>
            <a:r>
              <a:rPr lang="en-IN" dirty="0"/>
              <a:t> an intelligent matching system that automatically pairs lost and found entries based on selected item categories, text details, and location data.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To create</a:t>
            </a:r>
            <a:r>
              <a:rPr lang="en-IN" dirty="0"/>
              <a:t> an automated blind verification workflow where AI generates targeted questions based on hidden traits to test whether the claimant is genuine.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To notify</a:t>
            </a:r>
            <a:r>
              <a:rPr lang="en-IN" dirty="0"/>
              <a:t> owners instantly on their personal dashboard with candidate match badges whenever a matching category and description are identified.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 To provide</a:t>
            </a:r>
            <a:r>
              <a:rPr lang="en-IN" dirty="0"/>
              <a:t> a secure verification portal for authorities to authorize physical handovers, drastically cutting down     manual search effort and preventing fraudulent claims.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0057660"/>
              </p:ext>
            </p:extLst>
          </p:nvPr>
        </p:nvGraphicFramePr>
        <p:xfrm>
          <a:off x="274646" y="689466"/>
          <a:ext cx="11642705" cy="4656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a-DK" sz="1600" b="1" dirty="0"/>
                        <a:t>Zhou et al. [1] (2024)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LostNet</a:t>
                      </a:r>
                      <a:r>
                        <a:rPr lang="en-US" sz="1800" b="1" dirty="0"/>
                        <a:t>: A Smart Way for Lost and Find</a:t>
                      </a:r>
                      <a:endParaRPr lang="en-IN" sz="18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Uses MobileNetV2 and CBAM for image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Perceptual Hashing.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Spring Boot for the online system.</a:t>
                      </a:r>
                      <a:endParaRPr lang="en-US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Images of lost and found items can be matched automatically.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Helps reduce manual searching.</a:t>
                      </a:r>
                      <a:endParaRPr lang="en-US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Mainly focuses on image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Does not provide your zero-knowledge verification, AI agents, text matching and event-based notification.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dirty="0"/>
                        <a:t>Jitesh T. et al. [2] (2026)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SmartFind</a:t>
                      </a:r>
                      <a:r>
                        <a:rPr lang="en-US" sz="1400" b="1" dirty="0"/>
                        <a:t>: AI Based Lost Item Finder in College/Office Campuses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Uses image-based similarity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text-based similarity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Designed for college and office campuses.</a:t>
                      </a:r>
                      <a:endParaRPr lang="en-US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Image and text together can help find lost items.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AI can reduce manual searching.</a:t>
                      </a:r>
                      <a:endParaRPr lang="en-US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Mainly focuses on image and text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Does not include your blind challenge-response verification and multi-agent workflow.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dirty="0" err="1"/>
                        <a:t>Chinchmalatpure</a:t>
                      </a:r>
                      <a:r>
                        <a:rPr lang="en-US" sz="1400" b="1" dirty="0"/>
                        <a:t> et al. [3] (2026)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Automated Lost &amp; Found Retrieval System Using Deep Learning and Geospatial Analysis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Uses CLIP embeddings for image similarity.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location search.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image hashing for similarity search.</a:t>
                      </a:r>
                      <a:endParaRPr lang="en-US" sz="1400" b="1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AI image matching and location information can improve lost-item retrieval.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Similar ideas are useful for </a:t>
                      </a:r>
                      <a:r>
                        <a:rPr lang="en-US" sz="1400" b="1" dirty="0" err="1"/>
                        <a:t>FindEase</a:t>
                      </a:r>
                      <a:r>
                        <a:rPr lang="en-US" sz="1400" b="1" dirty="0"/>
                        <a:t>-SOA.</a:t>
                      </a:r>
                      <a:endParaRPr lang="en-US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Does not provide the complete zero-knowledge verification and event-driven recovery workflow proposed in </a:t>
                      </a:r>
                      <a:r>
                        <a:rPr lang="en-US" sz="1400" b="1" dirty="0" err="1"/>
                        <a:t>FindEase</a:t>
                      </a:r>
                      <a:r>
                        <a:rPr lang="en-US" sz="1400" b="1" dirty="0"/>
                        <a:t>-SOA.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3494690-35E2-4266-AE50-DA0864543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57" y="1336859"/>
            <a:ext cx="1165153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b="1"/>
              <a:t> Manual </a:t>
            </a:r>
            <a:r>
              <a:rPr lang="en-IN" b="1" dirty="0"/>
              <a:t>Search and Inefficiency:</a:t>
            </a:r>
            <a:r>
              <a:rPr lang="en-IN" dirty="0"/>
              <a:t> Traditional lost and found systems rely heavily on manual </a:t>
            </a:r>
            <a:r>
              <a:rPr lang="en-IN" dirty="0" err="1"/>
              <a:t>cataloging</a:t>
            </a:r>
            <a:r>
              <a:rPr lang="en-IN" dirty="0"/>
              <a:t>, physical notice boards, or scrolling through unfiltered lists, which is time-consuming and leads to low recovery rates.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Lack of Smart Categorization Matching:</a:t>
            </a:r>
            <a:r>
              <a:rPr lang="en-IN" dirty="0"/>
              <a:t> Most standard portals require exact keyword matches, failing to connect items when users describe the same object with slightly different wording or broad categories.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Public Exposure of Item Details:</a:t>
            </a:r>
            <a:r>
              <a:rPr lang="en-IN" dirty="0"/>
              <a:t> Existing platforms display all submitted item details publicly, making it easy for dishonest individuals to view identifying features and submit fraudulent ownership claims.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Absence of Blind Ownership Verification:</a:t>
            </a:r>
            <a:r>
              <a:rPr lang="en-IN" dirty="0"/>
              <a:t> Current systems lack an automated mechanism to verify ownership before physical contact, forcing administrators to manually interrogate claimants without standardized proof.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Lack of Real-Time Workflow Automation:</a:t>
            </a:r>
            <a:r>
              <a:rPr lang="en-IN" dirty="0"/>
              <a:t> Most existing solutions do not provide automated lifecycle tracking or instant dashboard alerts, leaving users unaware when a candidate match is reported.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Administrative Burden on Handover Authorities:</a:t>
            </a:r>
            <a:r>
              <a:rPr lang="en-IN" dirty="0"/>
              <a:t> Custodians and authorities face significant overhead and fraud risk when physically validating and handing over items without a pre-verified audit trail.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43501" y="622550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AE00949-ECD7-46B1-BE26-19F0D88F0722}"/>
              </a:ext>
            </a:extLst>
          </p:cNvPr>
          <p:cNvSpPr/>
          <p:nvPr/>
        </p:nvSpPr>
        <p:spPr>
          <a:xfrm>
            <a:off x="1820158" y="1469220"/>
            <a:ext cx="855168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Novelty (Blind Verification):</a:t>
            </a:r>
            <a:r>
              <a:rPr lang="en-IN" dirty="0"/>
              <a:t> Keeps unique item traits hidden from the public to prevent fake claims, using them only as secret ground truth for verification.</a:t>
            </a:r>
          </a:p>
          <a:p>
            <a:pPr lvl="0"/>
            <a:r>
              <a:rPr lang="en-IN" b="1" dirty="0"/>
              <a:t>Innovation (AI Agent Verification):</a:t>
            </a:r>
            <a:r>
              <a:rPr lang="en-IN" dirty="0"/>
              <a:t> Uses AI to automatically generate challenge questions and evaluate claimant answers, eliminating manual admin questioning.</a:t>
            </a:r>
          </a:p>
          <a:p>
            <a:pPr lvl="0"/>
            <a:r>
              <a:rPr lang="en-IN" b="1" dirty="0"/>
              <a:t>Creativity (Smart Categorical Matching):</a:t>
            </a:r>
            <a:r>
              <a:rPr lang="en-IN" dirty="0"/>
              <a:t> Matches items instantly using structured categories, descriptions, and location data without exposing sensitive item photos.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ADD71-402A-D74D-4947-98DC5F6BA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287" y="3297816"/>
            <a:ext cx="5992305" cy="293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DC4DC9-AC6C-4590-BE5A-BA8363E2EE23}"/>
                  </a:ext>
                </a:extLst>
              </p:cNvPr>
              <p:cNvSpPr/>
              <p:nvPr/>
            </p:nvSpPr>
            <p:spPr>
              <a:xfrm>
                <a:off x="859408" y="1489436"/>
                <a:ext cx="11470852" cy="59093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Project Plan:</a:t>
                </a:r>
                <a:endParaRPr lang="en-IN" dirty="0"/>
              </a:p>
              <a:p>
                <a:pPr lvl="0"/>
                <a:r>
                  <a:rPr lang="en-IN" b="1" dirty="0"/>
                  <a:t>Phase 1 (Setup):</a:t>
                </a:r>
                <a:r>
                  <a:rPr lang="en-IN" dirty="0"/>
                  <a:t> Design MySQL database schema separating public and hidden item traits.</a:t>
                </a:r>
              </a:p>
              <a:p>
                <a:pPr lvl="0"/>
                <a:r>
                  <a:rPr lang="en-IN" b="1" dirty="0"/>
                  <a:t>Phase 2 (AI Pipeline):</a:t>
                </a:r>
                <a:r>
                  <a:rPr lang="en-IN" dirty="0"/>
                  <a:t> Implement CLIP, BERT, and FAISS vector matching with geofencing.</a:t>
                </a:r>
              </a:p>
              <a:p>
                <a:pPr lvl="0"/>
                <a:r>
                  <a:rPr lang="en-IN" b="1" dirty="0"/>
                  <a:t>Phase 3 (Backend):</a:t>
                </a:r>
                <a:r>
                  <a:rPr lang="en-IN" dirty="0"/>
                  <a:t> Build Spring Boot event listeners to automate state transitions (MATCH_PENDING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MATCH_VERIFIED).</a:t>
                </a:r>
              </a:p>
              <a:p>
                <a:pPr lvl="0"/>
                <a:r>
                  <a:rPr lang="en-IN" b="1" dirty="0"/>
                  <a:t>Phase 4 (Verification):</a:t>
                </a:r>
                <a:r>
                  <a:rPr lang="en-IN" dirty="0"/>
                  <a:t> Integrate AI challenge generation and fraud response scoring (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≥85%</m:t>
                    </m:r>
                  </m:oMath>
                </a14:m>
                <a:r>
                  <a:rPr lang="en-IN" dirty="0"/>
                  <a:t>).</a:t>
                </a:r>
              </a:p>
              <a:p>
                <a:pPr lvl="0"/>
                <a:r>
                  <a:rPr lang="en-IN" b="1" dirty="0"/>
                  <a:t>Phase 5 (Frontend):</a:t>
                </a:r>
                <a:r>
                  <a:rPr lang="en-IN" dirty="0"/>
                  <a:t> Build user notification alerts and the Warden handover portal in React.</a:t>
                </a:r>
              </a:p>
              <a:p>
                <a:pPr lvl="0"/>
                <a:r>
                  <a:rPr lang="en-IN" b="1" dirty="0"/>
                  <a:t>Phase 6 (Testing):</a:t>
                </a:r>
                <a:r>
                  <a:rPr lang="en-IN" dirty="0"/>
                  <a:t> Perform integration testing, vector benchmarking, and deployment.</a:t>
                </a:r>
              </a:p>
              <a:p>
                <a:pPr lvl="0"/>
                <a:endParaRPr lang="en-IN" dirty="0"/>
              </a:p>
              <a:p>
                <a:r>
                  <a:rPr lang="en-IN" b="1" dirty="0"/>
                  <a:t>Feasibility :</a:t>
                </a:r>
                <a:endParaRPr lang="en-IN" dirty="0"/>
              </a:p>
              <a:p>
                <a:pPr lvl="0"/>
                <a:r>
                  <a:rPr lang="en-IN" b="1" dirty="0"/>
                  <a:t>Technical :</a:t>
                </a:r>
                <a:r>
                  <a:rPr lang="en-IN" dirty="0"/>
                  <a:t> Uses standard, proven technologies (Spring Boot, MySQL, FAISS, CLIP/BERT) with sub-second vector search.</a:t>
                </a:r>
              </a:p>
              <a:p>
                <a:pPr lvl="0"/>
                <a:r>
                  <a:rPr lang="en-IN" b="1" dirty="0"/>
                  <a:t>Operational :</a:t>
                </a:r>
                <a:r>
                  <a:rPr lang="en-IN" dirty="0"/>
                  <a:t> Eliminates manual screening by verifying claims automatically before warden handovers.</a:t>
                </a:r>
              </a:p>
              <a:p>
                <a:pPr lvl="0"/>
                <a:r>
                  <a:rPr lang="en-IN" b="1" dirty="0"/>
                  <a:t>Security :</a:t>
                </a:r>
                <a:r>
                  <a:rPr lang="en-IN" dirty="0"/>
                  <a:t> Keeps identifying traits completely private, preventing fraudulent claims.</a:t>
                </a:r>
              </a:p>
              <a:p>
                <a:pPr lvl="0"/>
                <a:r>
                  <a:rPr lang="en-IN" b="1" dirty="0"/>
                  <a:t>Resource :</a:t>
                </a:r>
                <a:r>
                  <a:rPr lang="en-IN" dirty="0"/>
                  <a:t> Modular architecture allows quick, parallel development across frontend, backend, and AI modules.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DC4DC9-AC6C-4590-BE5A-BA8363E2EE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08" y="1489436"/>
                <a:ext cx="11470852" cy="5909310"/>
              </a:xfrm>
              <a:prstGeom prst="rect">
                <a:avLst/>
              </a:prstGeom>
              <a:blipFill>
                <a:blip r:embed="rId3"/>
                <a:stretch>
                  <a:fillRect l="-478" t="-4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ABE3-674E-E165-57B2-BF6CFED30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Existing System VS Proposed System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33BF66-54AE-2938-5996-DE90D356F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285772"/>
              </p:ext>
            </p:extLst>
          </p:nvPr>
        </p:nvGraphicFramePr>
        <p:xfrm>
          <a:off x="2403834" y="2234150"/>
          <a:ext cx="6947556" cy="2969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1783">
                  <a:extLst>
                    <a:ext uri="{9D8B030D-6E8A-4147-A177-3AD203B41FA5}">
                      <a16:colId xmlns:a16="http://schemas.microsoft.com/office/drawing/2014/main" val="3316025811"/>
                    </a:ext>
                  </a:extLst>
                </a:gridCol>
                <a:gridCol w="3465773">
                  <a:extLst>
                    <a:ext uri="{9D8B030D-6E8A-4147-A177-3AD203B41FA5}">
                      <a16:colId xmlns:a16="http://schemas.microsoft.com/office/drawing/2014/main" val="3133213647"/>
                    </a:ext>
                  </a:extLst>
                </a:gridCol>
              </a:tblGrid>
              <a:tr h="546488">
                <a:tc>
                  <a:txBody>
                    <a:bodyPr/>
                    <a:lstStyle/>
                    <a:p>
                      <a:r>
                        <a:rPr lang="en-IN" dirty="0"/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Proposed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18182"/>
                  </a:ext>
                </a:extLst>
              </a:tr>
              <a:tr h="546488">
                <a:tc>
                  <a:txBody>
                    <a:bodyPr/>
                    <a:lstStyle/>
                    <a:p>
                      <a:r>
                        <a:rPr lang="en-IN" dirty="0"/>
                        <a:t>Manual Searching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Automatic Item matching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937905"/>
                  </a:ext>
                </a:extLst>
              </a:tr>
              <a:tr h="546488">
                <a:tc>
                  <a:txBody>
                    <a:bodyPr/>
                    <a:lstStyle/>
                    <a:p>
                      <a:r>
                        <a:rPr lang="en-IN" dirty="0"/>
                        <a:t>Public Ownership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Secret trait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801192"/>
                  </a:ext>
                </a:extLst>
              </a:tr>
              <a:tr h="664991">
                <a:tc>
                  <a:txBody>
                    <a:bodyPr/>
                    <a:lstStyle/>
                    <a:p>
                      <a:r>
                        <a:rPr lang="en-IN" dirty="0"/>
                        <a:t>Admin manually checks and hands over the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Claim is verified → Item is handed 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214626"/>
                  </a:ext>
                </a:extLst>
              </a:tr>
              <a:tr h="664991">
                <a:tc>
                  <a:txBody>
                    <a:bodyPr/>
                    <a:lstStyle/>
                    <a:p>
                      <a:r>
                        <a:rPr lang="en-IN" dirty="0"/>
                        <a:t>Item photos/details may be publicly 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Sensitive item details are kept private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494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496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F331-9D53-456B-8C48-0E53FEE4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Services 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C2A69D-5B2B-9A45-4125-6CC5DF9569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4363782"/>
              </p:ext>
            </p:extLst>
          </p:nvPr>
        </p:nvGraphicFramePr>
        <p:xfrm>
          <a:off x="1733746" y="2331720"/>
          <a:ext cx="8352934" cy="222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7">
                  <a:extLst>
                    <a:ext uri="{9D8B030D-6E8A-4147-A177-3AD203B41FA5}">
                      <a16:colId xmlns:a16="http://schemas.microsoft.com/office/drawing/2014/main" val="2881836959"/>
                    </a:ext>
                  </a:extLst>
                </a:gridCol>
                <a:gridCol w="4176467">
                  <a:extLst>
                    <a:ext uri="{9D8B030D-6E8A-4147-A177-3AD203B41FA5}">
                      <a16:colId xmlns:a16="http://schemas.microsoft.com/office/drawing/2014/main" val="2788987373"/>
                    </a:ext>
                  </a:extLst>
                </a:gridCol>
              </a:tblGrid>
              <a:tr h="370238">
                <a:tc>
                  <a:txBody>
                    <a:bodyPr/>
                    <a:lstStyle/>
                    <a:p>
                      <a:r>
                        <a:rPr lang="en-IN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Responsibility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171359"/>
                  </a:ext>
                </a:extLst>
              </a:tr>
              <a:tr h="370238">
                <a:tc>
                  <a:txBody>
                    <a:bodyPr/>
                    <a:lstStyle/>
                    <a:p>
                      <a:r>
                        <a:rPr lang="en-IN" b="1" dirty="0"/>
                        <a:t>User Service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Registration and login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317930"/>
                  </a:ext>
                </a:extLst>
              </a:tr>
              <a:tr h="370238">
                <a:tc>
                  <a:txBody>
                    <a:bodyPr/>
                    <a:lstStyle/>
                    <a:p>
                      <a:r>
                        <a:rPr lang="en-IN" b="1" dirty="0"/>
                        <a:t>Item Service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Report lost/found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064207"/>
                  </a:ext>
                </a:extLst>
              </a:tr>
              <a:tr h="370238">
                <a:tc>
                  <a:txBody>
                    <a:bodyPr/>
                    <a:lstStyle/>
                    <a:p>
                      <a:r>
                        <a:rPr lang="en-IN" b="1" dirty="0"/>
                        <a:t>Matching Service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Automatically find possible matches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96696"/>
                  </a:ext>
                </a:extLst>
              </a:tr>
              <a:tr h="370238">
                <a:tc>
                  <a:txBody>
                    <a:bodyPr/>
                    <a:lstStyle/>
                    <a:p>
                      <a:r>
                        <a:rPr lang="en-IN" b="1" dirty="0"/>
                        <a:t>Verification Service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Verify ownership using secret traits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625286"/>
                  </a:ext>
                </a:extLst>
              </a:tr>
              <a:tr h="370238">
                <a:tc>
                  <a:txBody>
                    <a:bodyPr/>
                    <a:lstStyle/>
                    <a:p>
                      <a:r>
                        <a:rPr lang="en-IN" b="1" dirty="0"/>
                        <a:t>Notification Service</a:t>
                      </a:r>
                      <a:r>
                        <a:rPr lang="en-IN" dirty="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Notify users about matches/claims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732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201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1F5A-40D0-4FE1-05D1-13E474A46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Technical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B8778-C39E-8788-88A5-6A0B52CB3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83" y="1966258"/>
            <a:ext cx="8588604" cy="2925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Frontend:</a:t>
            </a:r>
            <a:r>
              <a:rPr lang="en-IN" sz="1800" dirty="0"/>
              <a:t> HTML, CSS and JavaScript for the user interface.</a:t>
            </a:r>
            <a:br>
              <a:rPr lang="en-IN" sz="1800" dirty="0"/>
            </a:br>
            <a:r>
              <a:rPr lang="en-IN" sz="1800" b="1" dirty="0"/>
              <a:t>Backend:</a:t>
            </a:r>
            <a:r>
              <a:rPr lang="en-IN" sz="1800" dirty="0"/>
              <a:t> Python with Flask for handling users, items, claims and requests.</a:t>
            </a:r>
            <a:br>
              <a:rPr lang="en-IN" sz="1800" dirty="0"/>
            </a:br>
            <a:r>
              <a:rPr lang="en-IN" sz="1800" b="1" dirty="0"/>
              <a:t>Database:</a:t>
            </a:r>
            <a:r>
              <a:rPr lang="en-IN" sz="1800" dirty="0"/>
              <a:t> SQLite for storing user, lost/found item and claim details.</a:t>
            </a:r>
            <a:br>
              <a:rPr lang="en-IN" sz="1800" dirty="0"/>
            </a:br>
            <a:r>
              <a:rPr lang="en-IN" sz="1800" b="1" dirty="0"/>
              <a:t>Matching:</a:t>
            </a:r>
            <a:r>
              <a:rPr lang="en-IN" sz="1800" dirty="0"/>
              <a:t> Python-based matching using item category, name, description, </a:t>
            </a:r>
            <a:r>
              <a:rPr lang="en-IN" sz="1800" dirty="0" err="1"/>
              <a:t>color</a:t>
            </a:r>
            <a:r>
              <a:rPr lang="en-IN" sz="1800" dirty="0"/>
              <a:t> and location.</a:t>
            </a:r>
            <a:br>
              <a:rPr lang="en-IN" sz="1800" dirty="0"/>
            </a:br>
            <a:r>
              <a:rPr lang="en-IN" sz="1800" b="1" dirty="0"/>
              <a:t>Verification:</a:t>
            </a:r>
            <a:r>
              <a:rPr lang="en-IN" sz="1800" dirty="0"/>
              <a:t> Secret-trait questions are used to verify the actual owner.</a:t>
            </a:r>
            <a:br>
              <a:rPr lang="en-IN" sz="1800" dirty="0"/>
            </a:br>
            <a:r>
              <a:rPr lang="en-IN" sz="1800" b="1" dirty="0"/>
              <a:t>Authentication:</a:t>
            </a:r>
            <a:r>
              <a:rPr lang="en-IN" sz="1800" dirty="0"/>
              <a:t> User login and session-based access control.</a:t>
            </a:r>
            <a:br>
              <a:rPr lang="en-IN" sz="1800" dirty="0"/>
            </a:br>
            <a:r>
              <a:rPr lang="en-IN" sz="1800" b="1" dirty="0"/>
              <a:t>Claim Management:</a:t>
            </a:r>
            <a:r>
              <a:rPr lang="en-IN" sz="1800" dirty="0"/>
              <a:t> Potential matches generate claims that can be verified and approved/rejected.</a:t>
            </a:r>
            <a:br>
              <a:rPr lang="en-IN" sz="1800" dirty="0"/>
            </a:br>
            <a:r>
              <a:rPr lang="en-IN" sz="1800" b="1" dirty="0"/>
              <a:t>Notifications:</a:t>
            </a:r>
            <a:r>
              <a:rPr lang="en-IN" sz="1800" dirty="0"/>
              <a:t> Users are informed about relevant matches and claim updates.</a:t>
            </a:r>
          </a:p>
        </p:txBody>
      </p:sp>
    </p:spTree>
    <p:extLst>
      <p:ext uri="{BB962C8B-B14F-4D97-AF65-F5344CB8AC3E}">
        <p14:creationId xmlns:p14="http://schemas.microsoft.com/office/powerpoint/2010/main" val="810725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1281-DE5C-0E6C-7FB2-DAC20DA5B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Project Outputs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39634-C42E-8A1D-874D-5BE238F78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366" y="1550753"/>
            <a:ext cx="8977472" cy="431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11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C1F67-A7FA-5E3C-7246-5D7C651F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DE2AE-A1CF-3CFA-57E4-D64D8252D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155" y="1807549"/>
            <a:ext cx="8226881" cy="39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64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0AA3F-80DF-48BD-CF87-2EF70A113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794DC-99F7-236B-99D4-C70BBD0AA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728" y="1622005"/>
            <a:ext cx="8820769" cy="385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21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1259</Words>
  <Application>Microsoft Office PowerPoint</Application>
  <PresentationFormat>Widescreen</PresentationFormat>
  <Paragraphs>160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Cambria Math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Existing System VS Proposed System</vt:lpstr>
      <vt:lpstr>Services :</vt:lpstr>
      <vt:lpstr>Technical Implementation </vt:lpstr>
      <vt:lpstr>Project Outputs :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Bhavya Yadav</cp:lastModifiedBy>
  <cp:revision>39</cp:revision>
  <dcterms:created xsi:type="dcterms:W3CDTF">2026-08-08T06:33:56Z</dcterms:created>
  <dcterms:modified xsi:type="dcterms:W3CDTF">2026-09-29T08:13:02Z</dcterms:modified>
</cp:coreProperties>
</file>